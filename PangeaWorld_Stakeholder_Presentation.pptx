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Calibri"/>
              </a:defRPr>
            </a:pPr>
            <a:r>
              <a:t>PangeaWorld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233172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3C5FD"/>
                </a:solidFill>
                <a:latin typeface="Calibri"/>
              </a:defRPr>
            </a:pPr>
            <a:r>
              <a:t>Where RISK Meets CATAN Meets CAPSIM Meets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An AI-Powered Educational Simulation for</a:t>
            </a:r>
            <a:br/>
            <a:r>
              <a:t>Global Business, Economics &amp; Geopolitics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114800"/>
            <a:ext cx="1828800" cy="13716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0" y="4114800"/>
            <a:ext cx="182880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43F5E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617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Calibri"/>
              </a:defRPr>
            </a:pPr>
            <a:r>
              <a:t>Territorial</a:t>
            </a:r>
            <a:br/>
            <a:r>
              <a:t>Strategy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114800"/>
            <a:ext cx="1828800" cy="13716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411480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Calibri"/>
              </a:defRPr>
            </a:pPr>
            <a:r>
              <a:t>CATAN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617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Calibri"/>
              </a:defRPr>
            </a:pPr>
            <a:r>
              <a:t>Resource</a:t>
            </a:r>
            <a:br/>
            <a:r>
              <a:t>Economy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14800"/>
            <a:ext cx="1828800" cy="13716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114800"/>
            <a:ext cx="18288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Calibri"/>
              </a:defRPr>
            </a:pPr>
            <a:r>
              <a:t>CAPSIM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Calibri"/>
              </a:defRPr>
            </a:pPr>
            <a:r>
              <a:t>Business</a:t>
            </a:r>
            <a:br/>
            <a:r>
              <a:t>Simulation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59" y="4114800"/>
            <a:ext cx="1828800" cy="13716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59" y="411480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59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GEMINI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4617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Calibri"/>
              </a:defRPr>
            </a:pPr>
            <a:r>
              <a:t>Intelligent</a:t>
            </a:r>
            <a:br/>
            <a:r>
              <a:t>Advisor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Stakeholder Presentation  |  August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Students Learn Theory, Not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4055"/>
                </a:solidFill>
                <a:latin typeface="Calibri"/>
              </a:defRPr>
              <a:buChar char="▸"/>
            </a:pPr>
            <a:r>
              <a:t>CAPSIM teaches company management but ignores</a:t>
            </a:r>
            <a:br/>
            <a:r>
              <a:t>geopolitics, supply chains, and global trade routes</a:t>
            </a:r>
          </a:p>
          <a:p>
            <a:pPr>
              <a:spcAft>
                <a:spcPts val="1200"/>
              </a:spcAft>
              <a:defRPr sz="1400">
                <a:solidFill>
                  <a:srgbClr val="334055"/>
                </a:solidFill>
                <a:latin typeface="Calibri"/>
              </a:defRPr>
              <a:buChar char="▸"/>
            </a:pPr>
            <a:r>
              <a:t>RISK teaches territorial strategy but has no</a:t>
            </a:r>
            <a:br/>
            <a:r>
              <a:t>economic depth, trade mechanics, or business layer</a:t>
            </a:r>
          </a:p>
          <a:p>
            <a:pPr>
              <a:spcAft>
                <a:spcPts val="1200"/>
              </a:spcAft>
              <a:defRPr sz="1400">
                <a:solidFill>
                  <a:srgbClr val="334055"/>
                </a:solidFill>
                <a:latin typeface="Calibri"/>
              </a:defRPr>
              <a:buChar char="▸"/>
            </a:pPr>
            <a:r>
              <a:t>CATAN teaches resource management but lacks the</a:t>
            </a:r>
            <a:br/>
            <a:r>
              <a:t>scale of international diplomacy and real economics</a:t>
            </a:r>
          </a:p>
          <a:p>
            <a:pPr>
              <a:spcAft>
                <a:spcPts val="1200"/>
              </a:spcAft>
              <a:defRPr sz="1400">
                <a:solidFill>
                  <a:srgbClr val="334055"/>
                </a:solidFill>
                <a:latin typeface="Calibri"/>
              </a:defRPr>
              <a:buChar char="▸"/>
            </a:pPr>
            <a:r>
              <a:t>International affairs courses rely on case studies</a:t>
            </a:r>
            <a:br/>
            <a:r>
              <a:t>and role-playing with no consequence engine</a:t>
            </a:r>
          </a:p>
          <a:p>
            <a:pPr>
              <a:spcAft>
                <a:spcPts val="1200"/>
              </a:spcAft>
              <a:defRPr sz="1400">
                <a:solidFill>
                  <a:srgbClr val="334055"/>
                </a:solidFill>
                <a:latin typeface="Calibri"/>
              </a:defRPr>
              <a:buChar char="▸"/>
            </a:pPr>
            <a:r>
              <a:t>AI literacy is taught in isolation, disconnected</a:t>
            </a:r>
            <a:br/>
            <a:r>
              <a:t>from complex, realistic decision-making scenarios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47548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1828800"/>
            <a:ext cx="109728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23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of employers say graduates lack</a:t>
            </a:r>
            <a:br/>
            <a:r>
              <a:t>applied decision-making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246120"/>
            <a:ext cx="47548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246120"/>
            <a:ext cx="109728" cy="1188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3337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43F5E"/>
                </a:solidFill>
                <a:latin typeface="Calibri"/>
              </a:defRPr>
            </a:pPr>
            <a:r>
              <a:t>&lt; 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of business simulations integrate</a:t>
            </a:r>
            <a:br/>
            <a:r>
              <a:t>geopolitical dynamics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663440"/>
            <a:ext cx="47548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4663440"/>
            <a:ext cx="10972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47548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5257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existing platforms combine RISK +</a:t>
            </a:r>
            <a:br/>
            <a:r>
              <a:t>CATAN + CAPSIM + AI advising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PangeaWorld: Four Pillars of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055"/>
                </a:solidFill>
                <a:latin typeface="Calibri"/>
              </a:defRPr>
            </a:pPr>
            <a:r>
              <a:t>A round-based multiplayer simulation set in a fictitious world of 8 nations. Students play as National Presidents or Company Executives, making decisions that ripple across military, economic, and diplomatic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2697480" cy="3657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269748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2788920"/>
            <a:ext cx="640080" cy="64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43F5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31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inspired by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4206240"/>
            <a:ext cx="1234440" cy="228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891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055"/>
                </a:solidFill>
                <a:latin typeface="Calibri"/>
              </a:defRPr>
            </a:pPr>
            <a:r>
              <a:t>Presidents deploy military,</a:t>
            </a:r>
            <a:br/>
            <a:r>
              <a:t>form alliances, declare war,</a:t>
            </a:r>
            <a:br/>
            <a:r>
              <a:t>and navigate geopolitics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560320"/>
            <a:ext cx="2697480" cy="3657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560320"/>
            <a:ext cx="2697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06240" y="27889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5661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931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inspired by CATAN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4206240"/>
            <a:ext cx="123444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3891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055"/>
                </a:solidFill>
                <a:latin typeface="Calibri"/>
              </a:defRPr>
            </a:pPr>
            <a:r>
              <a:t>Scarce, depletable resources</a:t>
            </a:r>
            <a:br/>
            <a:r>
              <a:t>force trade, negotiation,</a:t>
            </a:r>
            <a:br/>
            <a:r>
              <a:t>and strategic investment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560320"/>
            <a:ext cx="2697480" cy="3657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560320"/>
            <a:ext cx="26974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86600" y="27889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5661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Business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931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inspired by CAPSIM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4206240"/>
            <a:ext cx="1234440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3891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055"/>
                </a:solidFill>
                <a:latin typeface="Calibri"/>
              </a:defRPr>
            </a:pPr>
            <a:r>
              <a:t>Company teams manage pricing,</a:t>
            </a:r>
            <a:br/>
            <a:r>
              <a:t>supply chains, R&amp;D, and</a:t>
            </a:r>
            <a:br/>
            <a:r>
              <a:t>compete for market share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2560320"/>
            <a:ext cx="2697480" cy="3657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2560320"/>
            <a:ext cx="2697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66959" y="27889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5661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931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inspired by GEMINI 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4206240"/>
            <a:ext cx="1234440" cy="228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43891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055"/>
                </a:solidFill>
                <a:latin typeface="Calibri"/>
              </a:defRPr>
            </a:pPr>
            <a:r>
              <a:t>Every student has an AI advisor</a:t>
            </a:r>
            <a:br/>
            <a:r>
              <a:t>that teaches critical thinking</a:t>
            </a:r>
            <a:br/>
            <a:r>
              <a:t>via the Socratic method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8 Nations, Each with Asymmetric Strengths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055"/>
                </a:solidFill>
                <a:latin typeface="Calibri"/>
              </a:defRPr>
            </a:pPr>
            <a:r>
              <a:t>No nation is self-sufficient. Asymmetric resources and geography force trade, diplomacy, and strategic alliances. This is a core design principle that teaches global interdependence.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2697480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8A"/>
                </a:solidFill>
                <a:latin typeface="Calibri"/>
              </a:defRPr>
            </a:pPr>
            <a:r>
              <a:t>Valdoria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834640"/>
            <a:ext cx="1234440" cy="182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055"/>
                </a:solidFill>
                <a:latin typeface="Calibri"/>
              </a:defRPr>
            </a:pPr>
            <a:r>
              <a:t>Resource-rich,</a:t>
            </a:r>
            <a:br/>
            <a:r>
              <a:t>politically complex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KEY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49039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3A8A"/>
                </a:solidFill>
                <a:latin typeface="Calibri"/>
              </a:defRPr>
            </a:pPr>
            <a:r>
              <a:t>Oil, Gas, Minerals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377440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377440"/>
            <a:ext cx="26974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5146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Lunara (island)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2834640"/>
            <a:ext cx="123444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926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055"/>
                </a:solidFill>
                <a:latin typeface="Calibri"/>
              </a:defRPr>
            </a:pPr>
            <a:r>
              <a:t>Island nation,</a:t>
            </a:r>
            <a:br/>
            <a:r>
              <a:t>no land borders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4747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KEY 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749039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3A8A"/>
                </a:solidFill>
                <a:latin typeface="Calibri"/>
              </a:defRPr>
            </a:pPr>
            <a:r>
              <a:t>Tech, Renewables, Fish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377440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377440"/>
            <a:ext cx="2697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5146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Terranova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2834640"/>
            <a:ext cx="123444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926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055"/>
                </a:solidFill>
                <a:latin typeface="Calibri"/>
              </a:defRPr>
            </a:pPr>
            <a:r>
              <a:t>Agricultural</a:t>
            </a:r>
            <a:br/>
            <a:r>
              <a:t>powerhouse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4747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KEY 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49039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3A8A"/>
                </a:solidFill>
                <a:latin typeface="Calibri"/>
              </a:defRPr>
            </a:pPr>
            <a:r>
              <a:t>Grain, Livestock, Wood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2377440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2377440"/>
            <a:ext cx="26974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5146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Korvath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2834640"/>
            <a:ext cx="123444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2926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055"/>
                </a:solidFill>
                <a:latin typeface="Calibri"/>
              </a:defRPr>
            </a:pPr>
            <a:r>
              <a:t>Industrial</a:t>
            </a:r>
            <a:br/>
            <a:r>
              <a:t>manufacturing 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4747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KEY RESOURCES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749039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3A8A"/>
                </a:solidFill>
                <a:latin typeface="Calibri"/>
              </a:defRPr>
            </a:pPr>
            <a:r>
              <a:t>Steel, Chemicals, Labor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526280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526280"/>
            <a:ext cx="26974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6634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Solhaven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20" y="4983480"/>
            <a:ext cx="123444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074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055"/>
                </a:solidFill>
                <a:latin typeface="Calibri"/>
              </a:defRPr>
            </a:pPr>
            <a:r>
              <a:t>Financial &amp;</a:t>
            </a:r>
            <a:br/>
            <a:r>
              <a:t>services center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6235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KEY RESOURCES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897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3A8A"/>
                </a:solidFill>
                <a:latin typeface="Calibri"/>
              </a:defRPr>
            </a:pPr>
            <a:r>
              <a:t>Capital, Banking, Ins.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37560" y="4526280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37560" y="4526280"/>
            <a:ext cx="2697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46634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Calibri"/>
              </a:defRPr>
            </a:pPr>
            <a:r>
              <a:t>Nordvik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4983480"/>
            <a:ext cx="1234440" cy="182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0" y="5074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055"/>
                </a:solidFill>
                <a:latin typeface="Calibri"/>
              </a:defRPr>
            </a:pPr>
            <a:r>
              <a:t>Arctic frontier,</a:t>
            </a:r>
            <a:br/>
            <a:r>
              <a:t>small population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56235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KEY RESOURCES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5897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3A8A"/>
                </a:solidFill>
                <a:latin typeface="Calibri"/>
              </a:defRPr>
            </a:pPr>
            <a:r>
              <a:t>Rare Earth, Timber, Oil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526280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4526280"/>
            <a:ext cx="2697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6634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Zephyria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4983480"/>
            <a:ext cx="12344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5074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055"/>
                </a:solidFill>
                <a:latin typeface="Calibri"/>
              </a:defRPr>
            </a:pPr>
            <a:r>
              <a:t>Trade crossroads,</a:t>
            </a:r>
            <a:br/>
            <a:r>
              <a:t>young workforce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56235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KEY RESOURCES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5897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3A8A"/>
                </a:solidFill>
                <a:latin typeface="Calibri"/>
              </a:defRPr>
            </a:pPr>
            <a:r>
              <a:t>Mixed, Location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98280" y="4526280"/>
            <a:ext cx="2697480" cy="1920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4526280"/>
            <a:ext cx="269748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35440" y="46634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3F5E"/>
                </a:solidFill>
                <a:latin typeface="Calibri"/>
              </a:defRPr>
            </a:pPr>
            <a:r>
              <a:t>Drakmoor (AI)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29800" y="4983480"/>
            <a:ext cx="1234440" cy="182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35440" y="50749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055"/>
                </a:solidFill>
                <a:latin typeface="Calibri"/>
              </a:defRPr>
            </a:pPr>
            <a:r>
              <a:t>AI-controlled</a:t>
            </a:r>
            <a:br/>
            <a:r>
              <a:t>military antagonist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35440" y="56235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KEY RESOURCES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5440" y="5897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3A8A"/>
                </a:solidFill>
                <a:latin typeface="Calibri"/>
              </a:defRPr>
            </a:pPr>
            <a:r>
              <a:t>Iron, Coal, Weapons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7 Rounds  |  14 Days  |  Each Round = 1 Year in Pangea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055"/>
                </a:solidFill>
                <a:latin typeface="Calibri"/>
              </a:defRPr>
            </a:pPr>
            <a:r>
              <a:t>Each round is a staggered 2-day cycle: Day 1 for presidential macro-policy, Day 2 for company micro-decisions. This 6-month delay simulates how policy changes cascade through markets.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2377440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2514600"/>
            <a:ext cx="548640" cy="365760"/>
          </a:xfrm>
          <a:prstGeom prst="rightArrow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8A"/>
                </a:solidFill>
                <a:latin typeface="Calibri"/>
              </a:defRPr>
            </a:pPr>
            <a:r>
              <a:t>Presidents</a:t>
            </a:r>
            <a:br/>
            <a:r>
              <a:t>Set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055"/>
                </a:solidFill>
                <a:latin typeface="Calibri"/>
              </a:defRPr>
            </a:pPr>
            <a:r>
              <a:t>Tariffs, military, infra,</a:t>
            </a:r>
            <a:br/>
            <a:r>
              <a:t>FMI, diplomacy, alliances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37744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40680" y="2514600"/>
            <a:ext cx="548640" cy="365760"/>
          </a:xfrm>
          <a:prstGeom prst="rightArrow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429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Companies</a:t>
            </a:r>
            <a:br/>
            <a:r>
              <a:t>React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9776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055"/>
                </a:solidFill>
                <a:latin typeface="Calibri"/>
              </a:defRPr>
            </a:pPr>
            <a:r>
              <a:t>Pricing, sourcing, R&amp;D,</a:t>
            </a:r>
            <a:br/>
            <a:r>
              <a:t>production volume</a:t>
            </a:r>
          </a:p>
        </p:txBody>
      </p:sp>
      <p:sp>
        <p:nvSpPr>
          <p:cNvPr id="17" name="Oval 16"/>
          <p:cNvSpPr/>
          <p:nvPr/>
        </p:nvSpPr>
        <p:spPr>
          <a:xfrm>
            <a:off x="7223759" y="23774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21040" y="2514600"/>
            <a:ext cx="548640" cy="365760"/>
          </a:xfrm>
          <a:prstGeom prst="rightArrow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29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Simulation</a:t>
            </a:r>
            <a:br/>
            <a:r>
              <a:t>Processes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776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055"/>
                </a:solidFill>
                <a:latin typeface="Calibri"/>
              </a:defRPr>
            </a:pPr>
            <a:r>
              <a:t>GDP, CPI, trade, military,</a:t>
            </a:r>
            <a:br/>
            <a:r>
              <a:t>events, disasters</a:t>
            </a:r>
          </a:p>
        </p:txBody>
      </p:sp>
      <p:sp>
        <p:nvSpPr>
          <p:cNvPr id="22" name="Oval 21"/>
          <p:cNvSpPr/>
          <p:nvPr/>
        </p:nvSpPr>
        <p:spPr>
          <a:xfrm>
            <a:off x="10104119" y="2377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3429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Dashboards</a:t>
            </a:r>
            <a:br/>
            <a:r>
              <a:t>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39776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055"/>
                </a:solidFill>
                <a:latin typeface="Calibri"/>
              </a:defRPr>
            </a:pPr>
            <a:r>
              <a:t>KPIs, news feed, rankings,</a:t>
            </a:r>
            <a:br/>
            <a:r>
              <a:t>AI debrief, scorecard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00600"/>
            <a:ext cx="10698480" cy="1828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83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Lobbying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Companies formally request</a:t>
            </a:r>
            <a:br/>
            <a:r>
              <a:t>policies from their president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983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Asynchronous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5303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Decisions submitted like</a:t>
            </a:r>
            <a:br/>
            <a:r>
              <a:t>homework, not live in class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983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Auto-Penalty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303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Missed deadlines get suboptimal</a:t>
            </a:r>
            <a:br/>
            <a:r>
              <a:t>auto-decisions as penalty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599" y="4983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No Elimination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599" y="5303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All teams play all 7 rounds;</a:t>
            </a:r>
            <a:br/>
            <a:r>
              <a:t>scoring balances growth +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THE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Real Economics, Not Toy Math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C5FD"/>
                </a:solidFill>
                <a:latin typeface="Calibri"/>
              </a:defRPr>
            </a:pPr>
            <a:r>
              <a:t>Every round, the simulation engine calculates real economic indicators using interconnected formulas. Presidential decisions in one nation cascade across all 8 economies.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486400" cy="192024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5486400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Calibri"/>
              </a:defRPr>
            </a:pPr>
            <a:r>
              <a:t>GDP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GDP(t) = GDP(t-1) x (1 + growthRate)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growthRate = baseGrowth + infraBonus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  + tradeBonus - militaryDrag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  - sanctionPenalty + resourceBonus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346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Infrastructure investment and</a:t>
            </a:r>
            <a:br/>
            <a:r>
              <a:t>trade surplus drive growth;</a:t>
            </a:r>
            <a:br/>
            <a:r>
              <a:t>military overspend and</a:t>
            </a:r>
            <a:br/>
            <a:r>
              <a:t>sanctions drag it down.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486400" cy="192024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54864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87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CPI / Inflation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CPI(t) = CPI(t-1) x (1 + inflationRate)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inflationRate = baseInflation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  + demandPull + importCostPush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  + militarySpend - taxCooling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  - supplyRelief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8346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Tariffs and military spend</a:t>
            </a:r>
            <a:br/>
            <a:r>
              <a:t>push prices up; taxes and</a:t>
            </a:r>
            <a:br/>
            <a:r>
              <a:t>abundant food/energy</a:t>
            </a:r>
            <a:br/>
            <a:r>
              <a:t>keep inflation in check.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26280"/>
            <a:ext cx="5486400" cy="192024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26280"/>
            <a:ext cx="54864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36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Unemployment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unemployment(t) = unemployment(t-1)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  - jobCreation (from GDP/infra)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  + sanctionLoss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  + militaryLayoffs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  - subsidyBoost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9834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Growing GDP creates jobs;</a:t>
            </a:r>
            <a:br/>
            <a:r>
              <a:t>sanctions destroy trade</a:t>
            </a:r>
            <a:br/>
            <a:r>
              <a:t>jobs; cutting military</a:t>
            </a:r>
            <a:br/>
            <a:r>
              <a:t>causes temporary spikes.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526280"/>
            <a:ext cx="5486400" cy="192024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526280"/>
            <a:ext cx="54864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636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Approval Rating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834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approval = 50 (base)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  + gdpGrowthMod (+3 per %)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  + unemploymentMod (-2 per %)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  + inflationMod (-3 per %)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93C5FD"/>
                </a:solidFill>
                <a:latin typeface="Consolas"/>
              </a:defRPr>
            </a:pPr>
            <a:r>
              <a:t>  + infraMod + militaryMod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9834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Composite citizen satisfaction.</a:t>
            </a:r>
            <a:br/>
            <a:r>
              <a:t>Students learn that popular</a:t>
            </a:r>
            <a:br/>
            <a:r>
              <a:t>policies and effective policies</a:t>
            </a:r>
            <a:br/>
            <a:r>
              <a:t>are not always the same.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MILITARY &amp;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War, Spies, Sabotage &amp; False Flags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055"/>
                </a:solidFill>
                <a:latin typeface="Calibri"/>
              </a:defRPr>
            </a:pPr>
            <a:r>
              <a:t>Military mechanics add strategic depth without overwhelming the simulation. Combat is always unpredictable (RISK-style dice), and covert operations create a parallel layer of intrigue.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Calibri"/>
              </a:defRPr>
            </a:pPr>
            <a:r>
              <a:t>Combat Resolution (RISK-style)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Attacker rolls 3 dice vs. Defender's 2 dice</a:t>
            </a:r>
          </a:p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Modifiers: terrain, tech level, supply lines (+1/-1)</a:t>
            </a:r>
          </a:p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War is always unpredictable: stronger doesn't = winner</a:t>
            </a:r>
          </a:p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Multiple engagements per battle, option to retreat</a:t>
            </a:r>
          </a:p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Military spending directly reduces economic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Calibri"/>
              </a:defRPr>
            </a:pPr>
            <a:r>
              <a:t>Covert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Spy operations can intercept rival lobbying requests</a:t>
            </a:r>
          </a:p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Intel capabilities grow with investment over rounds</a:t>
            </a:r>
          </a:p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Success is randomized (dice), based on attacker vs.</a:t>
            </a:r>
            <a:br/>
            <a:r>
              <a:t>defender intelligence levels</a:t>
            </a:r>
          </a:p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Nations are protected from spies in Rounds 1-2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10698480" cy="1828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502920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029200"/>
            <a:ext cx="2697480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13892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  <a:latin typeface="Calibri"/>
              </a:defRPr>
            </a:pPr>
            <a:r>
              <a:t>Confidential 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4406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Each president's secrets stored</a:t>
            </a:r>
            <a:br/>
            <a:r>
              <a:t>in isolated database. Only</a:t>
            </a:r>
            <a:br/>
            <a:r>
              <a:t>successful spies can leak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502920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5029200"/>
            <a:ext cx="26974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513892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Covert Sabotage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4406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Destroy rival infrastructure to</a:t>
            </a:r>
            <a:br/>
            <a:r>
              <a:t>protect your resource costs.</a:t>
            </a:r>
            <a:br/>
            <a:r>
              <a:t>If caught: FMI sanctions.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02920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5029200"/>
            <a:ext cx="269748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513892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43F5E"/>
                </a:solidFill>
                <a:latin typeface="Calibri"/>
              </a:defRPr>
            </a:pPr>
            <a:r>
              <a:t>False Flags (Rd 5+)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4406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Frame another nation for an</a:t>
            </a:r>
            <a:br/>
            <a:r>
              <a:t>attack. If successful, they get</a:t>
            </a:r>
            <a:br/>
            <a:r>
              <a:t>sanctioned. If caught, you 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502920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5029200"/>
            <a:ext cx="26974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513892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Scarce 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4406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When multiple nations compete</a:t>
            </a:r>
            <a:br/>
            <a:r>
              <a:t>for the same resource node,</a:t>
            </a:r>
            <a:br/>
            <a:r>
              <a:t>costs rise for everyone.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THE WILDCARD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Drakmoor: AI-Controlled Antagonist 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C5FD"/>
                </a:solidFill>
                <a:latin typeface="Calibri"/>
              </a:defRPr>
            </a:pPr>
            <a:r>
              <a:t>The 8th nation is fully AI-controlled. Once a prosperous industrial power, now marginalized by sanctions, Drakmoor grows increasingly desperate. It provokes conflict that students didn't cause but must navigate -- mirroring real geopolitical instability.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Randomized Per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No two games play out the same way: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029200" cy="59436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35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2735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Calibri"/>
              </a:defRPr>
            </a:pPr>
            <a:r>
              <a:t>Resource hunger, expansion,</a:t>
            </a:r>
            <a:br/>
            <a:r>
              <a:t>ideological rivalry, or revenge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5029200" cy="59436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593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593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Calibri"/>
              </a:defRPr>
            </a:pPr>
            <a:r>
              <a:t>Any of 7 player nations,</a:t>
            </a:r>
            <a:br/>
            <a:r>
              <a:t>weighted by proximity &amp; motive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5029200" cy="59436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451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6451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Calibri"/>
              </a:defRPr>
            </a:pPr>
            <a:r>
              <a:t>War initiation randomly</a:t>
            </a:r>
            <a:br/>
            <a:r>
              <a:t>between Rounds 2-5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57800"/>
            <a:ext cx="5029200" cy="59436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309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Personality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3309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Calibri"/>
              </a:defRPr>
            </a:pPr>
            <a:r>
              <a:t>Cold, erratic, aggressive,</a:t>
            </a:r>
            <a:br/>
            <a:r>
              <a:t>or deceptively friendly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943600"/>
            <a:ext cx="5029200" cy="59436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0167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60167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Calibri"/>
              </a:defRPr>
            </a:pPr>
            <a:r>
              <a:t>Blitzkrieg, attrition,</a:t>
            </a:r>
            <a:br/>
            <a:r>
              <a:t>proxy conflict, or blockade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Educational Purpose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8803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3C5FD"/>
                </a:solidFill>
                <a:latin typeface="Calibri"/>
              </a:defRPr>
              <a:buChar char="▹"/>
            </a:pPr>
            <a:r>
              <a:t>Forces students to deal with geopolitical</a:t>
            </a:r>
            <a:br/>
            <a:r>
              <a:t>instability they didn't cause</a:t>
            </a:r>
          </a:p>
          <a:p>
            <a:pPr>
              <a:spcAft>
                <a:spcPts val="800"/>
              </a:spcAft>
              <a:defRPr sz="1300">
                <a:solidFill>
                  <a:srgbClr val="93C5FD"/>
                </a:solidFill>
                <a:latin typeface="Calibri"/>
              </a:defRPr>
              <a:buChar char="▹"/>
            </a:pPr>
            <a:r>
              <a:t>Teaches that sanctions push nations toward</a:t>
            </a:r>
            <a:br/>
            <a:r>
              <a:t>desperation and escalation</a:t>
            </a:r>
          </a:p>
          <a:p>
            <a:pPr>
              <a:spcAft>
                <a:spcPts val="800"/>
              </a:spcAft>
              <a:defRPr sz="1300">
                <a:solidFill>
                  <a:srgbClr val="93C5FD"/>
                </a:solidFill>
                <a:latin typeface="Calibri"/>
              </a:defRPr>
              <a:buChar char="▹"/>
            </a:pPr>
            <a:r>
              <a:t>Creates urgency for military preparedness,</a:t>
            </a:r>
            <a:br/>
            <a:r>
              <a:t>intelligence, and alliance formation</a:t>
            </a:r>
          </a:p>
          <a:p>
            <a:pPr>
              <a:spcAft>
                <a:spcPts val="800"/>
              </a:spcAft>
              <a:defRPr sz="1300">
                <a:solidFill>
                  <a:srgbClr val="93C5FD"/>
                </a:solidFill>
                <a:latin typeface="Calibri"/>
              </a:defRPr>
              <a:buChar char="▹"/>
            </a:pPr>
            <a:r>
              <a:t>Shows how war disrupts supply chains and</a:t>
            </a:r>
            <a:br/>
            <a:r>
              <a:t>commodity prices for ALL nations</a:t>
            </a:r>
          </a:p>
          <a:p>
            <a:pPr>
              <a:spcAft>
                <a:spcPts val="800"/>
              </a:spcAft>
              <a:defRPr sz="1300">
                <a:solidFill>
                  <a:srgbClr val="93C5FD"/>
                </a:solidFill>
                <a:latin typeface="Calibri"/>
              </a:defRPr>
              <a:buChar char="▹"/>
            </a:pPr>
            <a:r>
              <a:t>Mirrors real-world scenarios: marginalization</a:t>
            </a:r>
            <a:br/>
            <a:r>
              <a:t>breeds conflict</a:t>
            </a:r>
          </a:p>
          <a:p>
            <a:pPr>
              <a:spcAft>
                <a:spcPts val="800"/>
              </a:spcAft>
              <a:defRPr sz="1300">
                <a:solidFill>
                  <a:srgbClr val="93C5FD"/>
                </a:solidFill>
                <a:latin typeface="Calibri"/>
              </a:defRPr>
              <a:buChar char="▹"/>
            </a:pPr>
            <a:r>
              <a:t>Drakmoor targets the leading nation,</a:t>
            </a:r>
            <a:br/>
            <a:r>
              <a:t>preventing runaway winners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126480"/>
            <a:ext cx="10698480" cy="45720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15391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Instructor can view Drakmoor's rolled profile via GM panel  |  Students never see the algorithm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INFRASTRUCTURE &amp;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Geography Determines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055"/>
                </a:solidFill>
                <a:latin typeface="Calibri"/>
              </a:defRPr>
            </a:pPr>
            <a:r>
              <a:t>The interactive map is the centerpiece. Presidents don't just allocate budgets -- they trace routes across a triangular grid, choosing where to build roads, bridges, ports, and airports.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Calibri"/>
              </a:defRPr>
            </a:pPr>
            <a:r>
              <a:t>Shipping Modes &amp; Costs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1188720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697480"/>
            <a:ext cx="822960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27157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697480"/>
            <a:ext cx="640080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7157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697480"/>
            <a:ext cx="2377440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715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17520"/>
            <a:ext cx="118872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632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4055"/>
                </a:solidFill>
                <a:latin typeface="Calibri"/>
              </a:defRPr>
            </a:pPr>
            <a:r>
              <a:t>Sea Lanes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3017520"/>
            <a:ext cx="82296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306323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~$2/unit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017520"/>
            <a:ext cx="64008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3063239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Slow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017520"/>
            <a:ext cx="237744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30632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Cheapest; needs port access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64991"/>
            <a:ext cx="1188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41071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4055"/>
                </a:solidFill>
                <a:latin typeface="Calibri"/>
              </a:defRPr>
            </a:pPr>
            <a:r>
              <a:t>Rivers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3364991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341071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~$5/unit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364991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3410711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3364991"/>
            <a:ext cx="2377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341071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Only along waterways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712463"/>
            <a:ext cx="118872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758183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4055"/>
                </a:solidFill>
                <a:latin typeface="Calibri"/>
              </a:defRPr>
            </a:pPr>
            <a:r>
              <a:t>Roads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3712463"/>
            <a:ext cx="82296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65960" y="375818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~$12/unit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3712463"/>
            <a:ext cx="64008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3758183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Fast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3712463"/>
            <a:ext cx="237744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375818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Expensive; grid-traced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059935"/>
            <a:ext cx="1188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10565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4055"/>
                </a:solidFill>
                <a:latin typeface="Calibri"/>
              </a:defRPr>
            </a:pPr>
            <a:r>
              <a:t>Air Freight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4059935"/>
            <a:ext cx="822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65960" y="4105655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~$30/unit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4059935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8920" y="4105655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Instant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4059935"/>
            <a:ext cx="2377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29000" y="410565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Emergency/premium 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Calibri"/>
              </a:defRPr>
            </a:pPr>
            <a:r>
              <a:t>Strategic Mechanics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2697480"/>
            <a:ext cx="73152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2715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8A"/>
                </a:solidFill>
                <a:latin typeface="Calibri"/>
              </a:defRPr>
            </a:pPr>
            <a:r>
              <a:t>Triangular Grid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2971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Presidents trace routes tile-by-tile.</a:t>
            </a:r>
            <a:br/>
            <a:r>
              <a:t>Cost scales with distance.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3474720"/>
            <a:ext cx="73152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12280" y="3493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Mountain Ranges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3749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Impassable barriers force long</a:t>
            </a:r>
            <a:br/>
            <a:r>
              <a:t>detours or expensive air freight.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4251960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12280" y="4270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Bridge Costs (3x)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12280" y="4526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River crossings require bridges</a:t>
            </a:r>
            <a:br/>
            <a:r>
              <a:t>at 3x the normal road cost.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502920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12280" y="5047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Construction Time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5303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Roads take 6 months to 2 years</a:t>
            </a:r>
            <a:br/>
            <a:r>
              <a:t>based on distance and terrain.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0" y="5806440"/>
            <a:ext cx="73152" cy="6400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12280" y="582472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3F5E"/>
                </a:solidFill>
                <a:latin typeface="Calibri"/>
              </a:defRPr>
            </a:pPr>
            <a:r>
              <a:t>Destructible Assets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12280" y="608075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Enemies can bomb bridges,</a:t>
            </a:r>
            <a:br/>
            <a:r>
              <a:t>blockade ports, mine sea lanes.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4754880"/>
            <a:ext cx="10698480" cy="1005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Calibri"/>
              </a:defRPr>
            </a:pPr>
            <a:r>
              <a:t>Landed Cost Formula: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" y="5120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055"/>
                </a:solidFill>
                <a:latin typeface="Consolas"/>
              </a:defRPr>
            </a:pPr>
            <a:r>
              <a:t>Landed Cost = Base Price + (Shipping Rate x Distance x Mode Multiplier) + Tariffs + Insurance + Port Fees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5897880"/>
            <a:ext cx="10698480" cy="7772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0" y="59436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Calibri"/>
              </a:defRPr>
            </a:pPr>
            <a:r>
              <a:t>Example: A company in Solhaven needs steel.  Korvath (sea): $50 + $4 = $54   |   Nordvik (road): $45 + $36 = $81   |   Drakmoor (sanctioned): $30 + $24 = blocked!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THE UNEXPECTED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Natural Disasters &amp; Dynamic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055"/>
                </a:solidFill>
                <a:latin typeface="Calibri"/>
              </a:defRPr>
            </a:pPr>
            <a:r>
              <a:t>Every game features 3 major events and 10-12 minor events randomly distributed across rounds. Students must hold reserves and adapt -- overspending leaves nations vulnerable to the unexpected.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3474720" cy="1417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347472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Calibri"/>
              </a:defRPr>
            </a:pPr>
            <a:r>
              <a:t>Earthquakes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468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468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Major or Minor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Destroys infrastructure,</a:t>
            </a:r>
            <a:br/>
            <a:r>
              <a:t>requires rebuild investment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377440"/>
            <a:ext cx="3474720" cy="1417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2377440"/>
            <a:ext cx="347472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487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Calibri"/>
              </a:defRPr>
            </a:pPr>
            <a:r>
              <a:t>Hurricanes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468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468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Major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Shuts down sea lanes and</a:t>
            </a:r>
            <a:br/>
            <a:r>
              <a:t>ports for 1-2 rounds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377440"/>
            <a:ext cx="3474720" cy="1417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2377440"/>
            <a:ext cx="347472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487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Calibri"/>
              </a:defRPr>
            </a:pPr>
            <a:r>
              <a:t>Tsunamis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59" y="2468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9" y="2468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Major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Devastates coastal cities,</a:t>
            </a:r>
            <a:br/>
            <a:r>
              <a:t>massive rebuild costs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23360"/>
            <a:ext cx="3474720" cy="1417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023360"/>
            <a:ext cx="3474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133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Calibri"/>
              </a:defRPr>
            </a:pPr>
            <a:r>
              <a:t>Twisters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411480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4114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Minor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Localized infrastructure</a:t>
            </a:r>
            <a:br/>
            <a:r>
              <a:t>damage, moderate cost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4023360"/>
            <a:ext cx="3474720" cy="1417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4023360"/>
            <a:ext cx="3474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4133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Calibri"/>
              </a:defRPr>
            </a:pPr>
            <a:r>
              <a:t>Oil Leakage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411480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114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Minor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Energy prices spike,</a:t>
            </a:r>
            <a:br/>
            <a:r>
              <a:t>environmental penalties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4023360"/>
            <a:ext cx="3474720" cy="1417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55279" y="4023360"/>
            <a:ext cx="3474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40" y="4133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Calibri"/>
              </a:defRPr>
            </a:pPr>
            <a:r>
              <a:t>Droughts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24159" y="411480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59" y="4114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Minor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Agriculture output drops,</a:t>
            </a:r>
            <a:br/>
            <a:r>
              <a:t>food prices surge globally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760720"/>
            <a:ext cx="10698480" cy="1828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Also: political crises (coups, protests)  |  market shocks (commodity spikes)  |  health emergencies (pandemics)  |  tech breakthroughs (new resource discovery)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3A8A"/>
                </a:solidFill>
                <a:latin typeface="Calibri"/>
              </a:defRPr>
            </a:pPr>
            <a:r>
              <a:t>Instructor can inject custom events via GM Panel  |  Reactive events trigger based on game state (e.g., CPI &gt; 115 = civil unrest)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FINANCIAL &amp; DIPLOMATIC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Fundo Monetario Internacional (FMI) &amp; Sanctions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055"/>
                </a:solidFill>
                <a:latin typeface="Calibri"/>
              </a:defRPr>
            </a:pPr>
            <a:r>
              <a:t>The FMI mirrors the real-world IMF. Nations can borrow, but debt has consequences. Sanctions require coalition-building through democratic voting -- not automatic enforcement.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Calibri"/>
              </a:defRPr>
            </a:pPr>
            <a:r>
              <a:t>FMI Lending Products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029200" cy="86868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706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Calibri"/>
              </a:defRPr>
            </a:pPr>
            <a:r>
              <a:t>Emergency 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Term: 1-2 rounds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063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Rate: 8-12%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7063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5"/>
                </a:solidFill>
                <a:latin typeface="Calibri"/>
              </a:defRPr>
            </a:pPr>
            <a:r>
              <a:t>Quick repay or</a:t>
            </a:r>
            <a:br/>
            <a:r>
              <a:t>credit drops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029200" cy="86868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Calibri"/>
              </a:defRPr>
            </a:pPr>
            <a:r>
              <a:t>Development Loan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Term: 4-6 rounds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0690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Rate: 3-6%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77647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5"/>
                </a:solidFill>
                <a:latin typeface="Calibri"/>
              </a:defRPr>
            </a:pPr>
            <a:r>
              <a:t>Requires reform</a:t>
            </a:r>
            <a:br/>
            <a:r>
              <a:t>commitments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09160"/>
            <a:ext cx="5029200" cy="86868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82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Calibri"/>
              </a:defRPr>
            </a:pPr>
            <a:r>
              <a:t>Bailout Package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Term: Full game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074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Rate: 1-3%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78231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055"/>
                </a:solidFill>
                <a:latin typeface="Calibri"/>
              </a:defRPr>
            </a:pPr>
            <a:r>
              <a:t>Austerity,</a:t>
            </a:r>
            <a:br/>
            <a:r>
              <a:t>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Calibri"/>
              </a:defRPr>
            </a:pPr>
            <a:r>
              <a:t>Sanctions Voting (5/8 majority)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697480"/>
            <a:ext cx="73152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8A"/>
                </a:solidFill>
                <a:latin typeface="Calibri"/>
              </a:defRPr>
            </a:pPr>
            <a:r>
              <a:t>Trade Embargo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017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Blocks specific commodity</a:t>
            </a:r>
            <a:br/>
            <a:r>
              <a:t>trade with sanctioned 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566160"/>
            <a:ext cx="73152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Financial Sanctions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886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Reduces FMI credit</a:t>
            </a:r>
            <a:br/>
            <a:r>
              <a:t>allowance by 30-50%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434840"/>
            <a:ext cx="7315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48055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Shipping Restrictions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7548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Ports cannot service</a:t>
            </a:r>
            <a:br/>
            <a:r>
              <a:t>sanctioned nation's cargo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303520"/>
            <a:ext cx="73152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5349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3F5E"/>
                </a:solidFill>
                <a:latin typeface="Calibri"/>
              </a:defRPr>
            </a:pPr>
            <a:r>
              <a:t>Full Isolation (6/8)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562355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All of the above combined.</a:t>
            </a:r>
            <a:br/>
            <a:r>
              <a:t>Requires supermajority.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760720"/>
            <a:ext cx="10698480" cy="8229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8338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055"/>
                </a:solidFill>
                <a:latin typeface="Calibri"/>
              </a:defRPr>
            </a:pPr>
            <a:r>
              <a:t>Key Insight: FMI credit allowance grows with national contributions. Presidents must decide: invest in FMI for future borrowing capacity, or spend that budget on immediate needs? Drakmoor-aligned nations face automatic FMI restrictions -- creating a real cost to diplomatic alignment with sanctioned states.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CROSS-CURRICULAR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One Platform, Ten Courses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055"/>
                </a:solidFill>
                <a:latin typeface="Calibri"/>
              </a:defRPr>
            </a:pPr>
            <a:r>
              <a:t>PangeaWorld serves as a shared experiential learning platform across programs and departments, maximizing ROI on a single investment. One game instance can serve multiple concurrent courses.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486400" cy="77724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731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8A"/>
                </a:solidFill>
                <a:latin typeface="Calibri"/>
              </a:defRPr>
            </a:pPr>
            <a:r>
              <a:t>International Affairs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Diplomacy, alliances, sanctions,</a:t>
            </a:r>
            <a:br/>
            <a:r>
              <a:t>UN-style Pangea Assembly forum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5486400" cy="77724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73152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International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06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Cross-border trade, tariffs,</a:t>
            </a:r>
            <a:br/>
            <a:r>
              <a:t>currency exchange, FDI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54680"/>
            <a:ext cx="548640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5468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Supply Chain Mgmt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74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Logistics routes, disruption events,</a:t>
            </a:r>
            <a:br/>
            <a:r>
              <a:t>landed cost optimization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48640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Macroeconomics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474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GDP, CPI, inflation, monetary</a:t>
            </a:r>
            <a:br/>
            <a:r>
              <a:t>policy, interest rates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23360"/>
            <a:ext cx="5486400" cy="77724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23360"/>
            <a:ext cx="73152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343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Company valuation, debt/equity,</a:t>
            </a:r>
            <a:br/>
            <a:r>
              <a:t>ROI, stock price simulation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23360"/>
            <a:ext cx="5486400" cy="77724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023360"/>
            <a:ext cx="73152" cy="7772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3F5E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43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Product positioning, pricing</a:t>
            </a:r>
            <a:br/>
            <a:r>
              <a:t>strategy, market share competition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892040"/>
            <a:ext cx="548640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892040"/>
            <a:ext cx="73152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937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Data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120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Dashboard interpretation, KPI</a:t>
            </a:r>
            <a:br/>
            <a:r>
              <a:t>analysis, AI-assisted forecasting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892040"/>
            <a:ext cx="548640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892040"/>
            <a:ext cx="73152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937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t>Ethics &amp; CSR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2120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Environmental impact, labor</a:t>
            </a:r>
            <a:br/>
            <a:r>
              <a:t>conditions, corruption mechanics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760720"/>
            <a:ext cx="5486400" cy="77724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760720"/>
            <a:ext cx="73152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8A"/>
                </a:solidFill>
                <a:latin typeface="Calibri"/>
              </a:defRPr>
            </a:pPr>
            <a:r>
              <a:t>Negotiation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0807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Trade deals, alliance formation,</a:t>
            </a:r>
            <a:br/>
            <a:r>
              <a:t>conflict resolution, lobbying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5760720"/>
            <a:ext cx="5486400" cy="77724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5760720"/>
            <a:ext cx="73152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Political Science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60807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Government policy, approval</a:t>
            </a:r>
            <a:br/>
            <a:r>
              <a:t>ratings, election-style pressures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AI-POWERED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Teaching Students to Think With AI, Not Rely on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8A"/>
                </a:solidFill>
                <a:latin typeface="Calibri"/>
              </a:defRPr>
            </a:pPr>
            <a:r>
              <a:t>How the AI Advisor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Each student has a personal Gemini AI advisor</a:t>
            </a:r>
          </a:p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AI is grounded in game data via the Global Ledger</a:t>
            </a:r>
            <a:br/>
            <a:r>
              <a:t>-- no hallucinated strategies or generic advice</a:t>
            </a:r>
          </a:p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Uses Socratic method: asks probing questions,</a:t>
            </a:r>
            <a:br/>
            <a:r>
              <a:t>surfaces trade-offs, never gives optimal answers</a:t>
            </a:r>
          </a:p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President advisors specialize in macroeconomics</a:t>
            </a:r>
            <a:br/>
            <a:r>
              <a:t>and geopolitical strategy</a:t>
            </a:r>
          </a:p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Company advisors specialize in business strategy,</a:t>
            </a:r>
            <a:br/>
            <a:r>
              <a:t>supply chain optimization, and pricing</a:t>
            </a:r>
          </a:p>
          <a:p>
            <a:pPr>
              <a:spcAft>
                <a:spcPts val="800"/>
              </a:spcAft>
              <a:defRPr sz="1300">
                <a:solidFill>
                  <a:srgbClr val="334055"/>
                </a:solidFill>
                <a:latin typeface="Calibri"/>
              </a:defRPr>
              <a:buChar char="▸"/>
            </a:pPr>
            <a:r>
              <a:t>AI cannot reveal other players' confidential</a:t>
            </a:r>
            <a:br/>
            <a:r>
              <a:t>decisions -- strict information partitioning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8A"/>
                </a:solidFill>
                <a:latin typeface="Calibri"/>
              </a:defRPr>
            </a:pPr>
            <a:r>
              <a:t>Assessment &amp; Accountability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286000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2286000"/>
            <a:ext cx="731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3591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Calibri"/>
              </a:defRPr>
            </a:pPr>
            <a:r>
              <a:t>AI Usage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651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Every AI interaction is recorded</a:t>
            </a:r>
            <a:br/>
            <a:r>
              <a:t>for instructor review and grading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337560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3337560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4107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Decision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703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Did AI-informed decisions improve</a:t>
            </a:r>
            <a:br/>
            <a:r>
              <a:t>over 7 rounds? Tracked per student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389120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438912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4622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Prompt Sophistication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754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Instructors see prompt quality</a:t>
            </a:r>
            <a:br/>
            <a:r>
              <a:t>evolve as students learn to query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5440679"/>
            <a:ext cx="4846320" cy="9144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5440679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5513831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Learning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806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Measurable: KPI improvement, strategy</a:t>
            </a:r>
            <a:br/>
            <a:r>
              <a:t>adaptation, critical analysis depth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06440"/>
            <a:ext cx="10698480" cy="777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Calibri"/>
              </a:defRPr>
            </a:pPr>
            <a:r>
              <a:t>Global Event Ledger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126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055"/>
                </a:solidFill>
                <a:latin typeface="Calibri"/>
              </a:defRPr>
            </a:pPr>
            <a:r>
              <a:t>Every decision, disaster, deal, rejected proposal, and news article is logged to an immutable ledger. The AI advisor queries this ledger to provide context-aware advice grounded in the exact history of the game.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Phased Delivery -- Playable at Every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055"/>
                </a:solidFill>
                <a:latin typeface="Calibri"/>
              </a:defRPr>
            </a:pPr>
            <a:r>
              <a:t>Each phase delivers a self-contained, playable product. The simulation can be piloted with students after Phase 2, with full features and AI integration by Phase 4.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10698480" cy="7315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256032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2057400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3A8A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6-8 wks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160520"/>
            <a:ext cx="1143000" cy="182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Data model, economy engine,</a:t>
            </a:r>
            <a:br/>
            <a:r>
              <a:t>single-nation dashboard,</a:t>
            </a:r>
            <a:br/>
            <a:r>
              <a:t>simulation math validation</a:t>
            </a:r>
          </a:p>
        </p:txBody>
      </p:sp>
      <p:sp>
        <p:nvSpPr>
          <p:cNvPr id="16" name="Oval 15"/>
          <p:cNvSpPr/>
          <p:nvPr/>
        </p:nvSpPr>
        <p:spPr>
          <a:xfrm>
            <a:off x="3520440" y="256032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88920" y="320040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88920" y="3200400"/>
            <a:ext cx="20574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333756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5661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  <a:latin typeface="Calibri"/>
              </a:defRPr>
            </a:pPr>
            <a:r>
              <a:t>Multiplayer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8862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4-6 wks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4160520"/>
            <a:ext cx="11430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429768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Auth, round system, trade,</a:t>
            </a:r>
            <a:br/>
            <a:r>
              <a:t>diplomacy, FMI, AI bots,</a:t>
            </a:r>
            <a:br/>
            <a:r>
              <a:t>lobbyist system</a:t>
            </a:r>
          </a:p>
        </p:txBody>
      </p:sp>
      <p:sp>
        <p:nvSpPr>
          <p:cNvPr id="24" name="Oval 23"/>
          <p:cNvSpPr/>
          <p:nvPr/>
        </p:nvSpPr>
        <p:spPr>
          <a:xfrm>
            <a:off x="5760720" y="25603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0" y="320040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3200400"/>
            <a:ext cx="2057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33756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5661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9E0B"/>
                </a:solidFill>
                <a:latin typeface="Calibri"/>
              </a:defRPr>
            </a:pPr>
            <a:r>
              <a:t>Military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8862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4-6 wks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4160520"/>
            <a:ext cx="11430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429768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Combat, natural disasters,</a:t>
            </a:r>
            <a:br/>
            <a:r>
              <a:t>news engine, world map,</a:t>
            </a:r>
            <a:br/>
            <a:r>
              <a:t>infrastructure system</a:t>
            </a:r>
          </a:p>
        </p:txBody>
      </p:sp>
      <p:sp>
        <p:nvSpPr>
          <p:cNvPr id="32" name="Oval 31"/>
          <p:cNvSpPr/>
          <p:nvPr/>
        </p:nvSpPr>
        <p:spPr>
          <a:xfrm>
            <a:off x="8001000" y="25603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69480" y="320040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69480" y="3200400"/>
            <a:ext cx="2057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333756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5661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alibri"/>
              </a:defRPr>
            </a:pPr>
            <a:r>
              <a:t>AI &amp;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38862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3-4 wks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6679" y="4160520"/>
            <a:ext cx="114300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429768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Gemini integration, instructor</a:t>
            </a:r>
            <a:br/>
            <a:r>
              <a:t>dashboard, grading, debrief,</a:t>
            </a:r>
            <a:br/>
            <a:r>
              <a:t>post-game analysis tools</a:t>
            </a:r>
          </a:p>
        </p:txBody>
      </p:sp>
      <p:sp>
        <p:nvSpPr>
          <p:cNvPr id="40" name="Oval 39"/>
          <p:cNvSpPr/>
          <p:nvPr/>
        </p:nvSpPr>
        <p:spPr>
          <a:xfrm>
            <a:off x="10241280" y="2560320"/>
            <a:ext cx="457200" cy="4572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09760" y="320040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09760" y="3200400"/>
            <a:ext cx="205740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333756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Polish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5661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4748B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38862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2-3 wks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66960" y="4160520"/>
            <a:ext cx="1143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0" y="4297680"/>
            <a:ext cx="18745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  <a:latin typeface="Calibri"/>
              </a:defRPr>
            </a:pPr>
            <a:r>
              <a:t>Balancing, UX refinement,</a:t>
            </a:r>
            <a:br/>
            <a:r>
              <a:t>stress testing, pilot with</a:t>
            </a:r>
            <a:br/>
            <a:r>
              <a:t>student cohort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0" y="6126480"/>
            <a:ext cx="5760720" cy="5486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6153912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Total: 19-27 Weeks  |  Pilot-Ready by Spring 2027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We Need to Make This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60020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651760" cy="292608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17319" y="2148840"/>
            <a:ext cx="594360" cy="5943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Development</a:t>
            </a:r>
            <a:br/>
            <a:r>
              <a:t>Resources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3474720"/>
            <a:ext cx="1188720" cy="274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Calibri"/>
              </a:defRPr>
            </a:pPr>
            <a:r>
              <a:t>Dedicated development team</a:t>
            </a:r>
            <a:br/>
            <a:r>
              <a:t>or allocated faculty release time</a:t>
            </a:r>
            <a:br/>
            <a:r>
              <a:t>for a 6-month build 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11680"/>
            <a:ext cx="2651760" cy="292608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7680" y="2148840"/>
            <a:ext cx="594360" cy="5943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880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Cloud</a:t>
            </a:r>
            <a:br/>
            <a:r>
              <a:t>Infrastructure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3474720"/>
            <a:ext cx="118872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657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Calibri"/>
              </a:defRPr>
            </a:pPr>
            <a:r>
              <a:t>GCP or AWS hosting for</a:t>
            </a:r>
            <a:br/>
            <a:r>
              <a:t>real-time multiplayer with</a:t>
            </a:r>
            <a:br/>
            <a:r>
              <a:t>50-300 concurrent students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011680"/>
            <a:ext cx="2651760" cy="292608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78040" y="214884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80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Gemini API</a:t>
            </a:r>
            <a:br/>
            <a:r>
              <a:t>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79" y="3474720"/>
            <a:ext cx="11887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57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Calibri"/>
              </a:defRPr>
            </a:pPr>
            <a:r>
              <a:t>Google Gemini API for</a:t>
            </a:r>
            <a:br/>
            <a:r>
              <a:t>per-student AI advisors.</a:t>
            </a:r>
            <a:br/>
            <a:r>
              <a:t>Est. 500K tokens per game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2011680"/>
            <a:ext cx="2651760" cy="292608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399" y="214884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2880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Pilot</a:t>
            </a:r>
            <a:br/>
            <a:r>
              <a:t>Cohort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3474720"/>
            <a:ext cx="118872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599" y="3657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Calibri"/>
              </a:defRPr>
            </a:pPr>
            <a:r>
              <a:t>One section (50-100 students)</a:t>
            </a:r>
            <a:br/>
            <a:r>
              <a:t>for Spring 2027 beta test</a:t>
            </a:r>
            <a:br/>
            <a:r>
              <a:t>across 2-3 courses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120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1F5F9"/>
                </a:solidFill>
                <a:latin typeface="Calibri"/>
              </a:defRPr>
            </a:pPr>
            <a:r>
              <a:t>"The closest thing to running a country without leaving the classroom."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5760720"/>
            <a:ext cx="210312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